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46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543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067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505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83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714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60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818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987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075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82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4332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068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906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0258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325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854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CF5A0F8-0AAD-40F1-BA21-F67BD1CAAE0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CAA7FF6-DCD1-41C5-924F-B10C331F0A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62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javascript/" TargetMode="Externa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D46EF-7CD6-7208-F598-385D62DE7B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Error handling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37CF3-9DD1-2F95-E237-C0F736C6A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598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8D68B-4A34-363F-B0AD-A15847927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2279" y="474251"/>
            <a:ext cx="8930747" cy="1038247"/>
          </a:xfrm>
        </p:spPr>
        <p:txBody>
          <a:bodyPr/>
          <a:lstStyle/>
          <a:p>
            <a:pPr algn="l"/>
            <a:r>
              <a:rPr lang="en-IN" b="1" dirty="0"/>
              <a:t>What is an error?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CD96-8C67-993A-564A-F65E8FE34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2191109" y="1512497"/>
            <a:ext cx="9311917" cy="4382220"/>
          </a:xfrm>
        </p:spPr>
        <p:txBody>
          <a:bodyPr>
            <a:normAutofit/>
          </a:bodyPr>
          <a:lstStyle/>
          <a:p>
            <a:pPr algn="l"/>
            <a:r>
              <a:rPr lang="en-IN" sz="2400" dirty="0"/>
              <a:t> </a:t>
            </a:r>
            <a:r>
              <a:rPr lang="en-US" sz="3600" dirty="0"/>
              <a:t>An error is an event that occurs during the execution of a program.</a:t>
            </a:r>
          </a:p>
          <a:p>
            <a:pPr algn="l"/>
            <a:r>
              <a:rPr lang="en-US" sz="3600" dirty="0"/>
              <a:t> 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630920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C719E-30D0-7E6D-0A78-21049E3F7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548DD-C01C-0BBB-11D3-BF4B11BD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474251"/>
            <a:ext cx="9979026" cy="1038247"/>
          </a:xfrm>
        </p:spPr>
        <p:txBody>
          <a:bodyPr/>
          <a:lstStyle/>
          <a:p>
            <a:pPr algn="l"/>
            <a:r>
              <a:rPr lang="en-IN" b="1" dirty="0"/>
              <a:t>Syntax error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00071-7361-81AF-2865-8F8CA9453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2191109" y="1512497"/>
            <a:ext cx="9311917" cy="4382220"/>
          </a:xfrm>
        </p:spPr>
        <p:txBody>
          <a:bodyPr>
            <a:normAutofit/>
          </a:bodyPr>
          <a:lstStyle/>
          <a:p>
            <a:pPr algn="l"/>
            <a:r>
              <a:rPr lang="en-IN" sz="2400" dirty="0"/>
              <a:t> </a:t>
            </a:r>
            <a:r>
              <a:rPr lang="en-US" sz="2800" dirty="0"/>
              <a:t>Syntax errors, also called </a:t>
            </a:r>
            <a:r>
              <a:rPr lang="en-US" sz="2800" b="1" dirty="0"/>
              <a:t>parsing errors</a:t>
            </a:r>
            <a:r>
              <a:rPr lang="en-US" sz="2800" dirty="0"/>
              <a:t>, occur at compile time .</a:t>
            </a:r>
          </a:p>
          <a:p>
            <a:pPr algn="l"/>
            <a:r>
              <a:rPr lang="en-US" dirty="0"/>
              <a:t>Examples are missing parentheses, brackets, or commas.</a:t>
            </a:r>
          </a:p>
          <a:p>
            <a:pPr algn="l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Program</a:t>
            </a:r>
          </a:p>
          <a:p>
            <a:pPr algn="l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Console.log(“hello world”;</a:t>
            </a:r>
          </a:p>
          <a:p>
            <a:pPr algn="l"/>
            <a:r>
              <a:rPr lang="en-US" sz="2800" dirty="0">
                <a:solidFill>
                  <a:schemeClr val="accent4"/>
                </a:solidFill>
              </a:rPr>
              <a:t>Output:</a:t>
            </a:r>
          </a:p>
          <a:p>
            <a:pPr algn="l"/>
            <a:r>
              <a:rPr lang="en-US" sz="2800" dirty="0">
                <a:solidFill>
                  <a:schemeClr val="accent4"/>
                </a:solidFill>
              </a:rPr>
              <a:t>syntax error: missing ) after argument list.</a:t>
            </a:r>
          </a:p>
          <a:p>
            <a:pPr algn="l"/>
            <a:endParaRPr lang="en-US" sz="2800" dirty="0">
              <a:solidFill>
                <a:schemeClr val="accent4"/>
              </a:solidFill>
            </a:endParaRPr>
          </a:p>
          <a:p>
            <a:pPr algn="l"/>
            <a:endParaRPr lang="en-IN" sz="2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839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19195-0C12-65E0-B16B-BAA0B0A9A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497AA-6AFA-F0B7-A2A9-8A3BD655E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474251"/>
            <a:ext cx="9979026" cy="1038247"/>
          </a:xfrm>
        </p:spPr>
        <p:txBody>
          <a:bodyPr/>
          <a:lstStyle/>
          <a:p>
            <a:pPr algn="l"/>
            <a:r>
              <a:rPr lang="en-IN" b="1" dirty="0"/>
              <a:t>Range errors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3BF27-7A10-CA82-6E59-5A34A2EE3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2191109" y="1512497"/>
            <a:ext cx="9311917" cy="438222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 </a:t>
            </a:r>
            <a:r>
              <a:rPr lang="en-US" sz="1800" dirty="0"/>
              <a:t>Occurs when a value is out of range, like passing an invalid number to a function.</a:t>
            </a:r>
          </a:p>
          <a:p>
            <a:pPr algn="l"/>
            <a:r>
              <a:rPr lang="en-US" sz="1800" dirty="0"/>
              <a:t>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Program</a:t>
            </a:r>
          </a:p>
          <a:p>
            <a:pPr algn="l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Let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</a:rPr>
              <a:t>arr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=Array(-1);</a:t>
            </a:r>
          </a:p>
          <a:p>
            <a:pPr algn="l"/>
            <a:r>
              <a:rPr lang="en-US" sz="2800" dirty="0">
                <a:solidFill>
                  <a:schemeClr val="accent4"/>
                </a:solidFill>
              </a:rPr>
              <a:t>Output:</a:t>
            </a:r>
          </a:p>
          <a:p>
            <a:pPr algn="l"/>
            <a:r>
              <a:rPr lang="en-US" sz="2800" dirty="0">
                <a:solidFill>
                  <a:schemeClr val="accent4"/>
                </a:solidFill>
              </a:rPr>
              <a:t>Range error: Invalid array length</a:t>
            </a:r>
          </a:p>
          <a:p>
            <a:pPr algn="l"/>
            <a:endParaRPr lang="en-US" sz="2800" dirty="0">
              <a:solidFill>
                <a:schemeClr val="accent4"/>
              </a:solidFill>
            </a:endParaRPr>
          </a:p>
          <a:p>
            <a:pPr algn="l"/>
            <a:endParaRPr lang="en-IN" sz="2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25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A6374-8F4A-BDA9-C641-9371574ED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FC937-0386-6B50-20C8-AD8386CA2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474251"/>
            <a:ext cx="9979026" cy="1038247"/>
          </a:xfrm>
        </p:spPr>
        <p:txBody>
          <a:bodyPr/>
          <a:lstStyle/>
          <a:p>
            <a:pPr algn="l"/>
            <a:r>
              <a:rPr lang="en-IN" b="1" dirty="0"/>
              <a:t>Type error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5AD68-A23A-4C00-BDFE-D60C35415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1616014" y="1512497"/>
            <a:ext cx="9887010" cy="4382220"/>
          </a:xfrm>
        </p:spPr>
        <p:txBody>
          <a:bodyPr>
            <a:normAutofit/>
          </a:bodyPr>
          <a:lstStyle/>
          <a:p>
            <a:pPr algn="l" fontAlgn="base"/>
            <a:r>
              <a:rPr lang="en-US" sz="3200" dirty="0"/>
              <a:t>This happens when a value is not of the expected type (e.g., trying to call a method on undefined).</a:t>
            </a:r>
            <a:endParaRPr lang="en-US" dirty="0"/>
          </a:p>
          <a:p>
            <a:pPr algn="l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Program:</a:t>
            </a:r>
          </a:p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Let num=5;</a:t>
            </a:r>
          </a:p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Console.log(num.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toUpperCase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());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accent4"/>
                </a:solidFill>
              </a:rPr>
              <a:t>Output:</a:t>
            </a:r>
          </a:p>
          <a:p>
            <a:pPr algn="l"/>
            <a:r>
              <a:rPr lang="en-US" sz="1400" dirty="0">
                <a:solidFill>
                  <a:schemeClr val="accent4"/>
                </a:solidFill>
              </a:rPr>
              <a:t>Type error: </a:t>
            </a:r>
            <a:r>
              <a:rPr lang="en-US" sz="1400" dirty="0">
                <a:solidFill>
                  <a:srgbClr val="FF0000"/>
                </a:solidFill>
              </a:rPr>
              <a:t>num. </a:t>
            </a:r>
            <a:r>
              <a:rPr lang="en-US" sz="1400" dirty="0" err="1">
                <a:solidFill>
                  <a:srgbClr val="FF0000"/>
                </a:solidFill>
              </a:rPr>
              <a:t>toUpperCase</a:t>
            </a:r>
            <a:r>
              <a:rPr lang="en-US" sz="1400" dirty="0">
                <a:solidFill>
                  <a:srgbClr val="FF0000"/>
                </a:solidFill>
              </a:rPr>
              <a:t>() </a:t>
            </a:r>
            <a:r>
              <a:rPr lang="en-US" sz="1400" dirty="0">
                <a:solidFill>
                  <a:schemeClr val="accent4"/>
                </a:solidFill>
              </a:rPr>
              <a:t> is not a function</a:t>
            </a:r>
            <a:r>
              <a:rPr lang="en-US" sz="2800" dirty="0">
                <a:solidFill>
                  <a:schemeClr val="accent4"/>
                </a:solidFill>
              </a:rPr>
              <a:t>.</a:t>
            </a:r>
          </a:p>
          <a:p>
            <a:pPr algn="l"/>
            <a:endParaRPr lang="en-IN" sz="2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68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C7858-616C-3E20-DD7E-C62D999FA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88E16-792D-71A0-87D6-CF0DE5528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474251"/>
            <a:ext cx="9979026" cy="1038247"/>
          </a:xfrm>
        </p:spPr>
        <p:txBody>
          <a:bodyPr/>
          <a:lstStyle/>
          <a:p>
            <a:pPr algn="l"/>
            <a:r>
              <a:rPr lang="en-IN" b="1" dirty="0"/>
              <a:t>Reference  error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BBEE6-0EBA-0F0C-CCCA-36FD0A477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2191109" y="1512497"/>
            <a:ext cx="9311917" cy="438222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Occurs when we try to access a variable that hasn’t been declared</a:t>
            </a:r>
            <a:r>
              <a:rPr lang="en-US" dirty="0"/>
              <a:t>.</a:t>
            </a:r>
          </a:p>
          <a:p>
            <a:pPr algn="l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Program</a:t>
            </a:r>
          </a:p>
          <a:p>
            <a:pPr algn="l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Console.log(x);</a:t>
            </a:r>
          </a:p>
          <a:p>
            <a:pPr algn="l"/>
            <a:r>
              <a:rPr lang="en-US" sz="2800" dirty="0">
                <a:solidFill>
                  <a:schemeClr val="accent4"/>
                </a:solidFill>
              </a:rPr>
              <a:t>Output:</a:t>
            </a:r>
          </a:p>
          <a:p>
            <a:pPr algn="l"/>
            <a:r>
              <a:rPr lang="en-US" sz="2800" dirty="0">
                <a:solidFill>
                  <a:schemeClr val="accent4"/>
                </a:solidFill>
              </a:rPr>
              <a:t>Reference error: x is not defined</a:t>
            </a:r>
          </a:p>
          <a:p>
            <a:pPr algn="l"/>
            <a:endParaRPr lang="en-US" sz="2800" dirty="0">
              <a:solidFill>
                <a:schemeClr val="accent4"/>
              </a:solidFill>
            </a:endParaRPr>
          </a:p>
          <a:p>
            <a:pPr algn="l"/>
            <a:endParaRPr lang="en-IN" sz="2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725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47522-42F1-977D-BB63-87AB7E2D9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FBC3C-171B-9A0B-6B08-985B80F79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474251"/>
            <a:ext cx="9979026" cy="1038247"/>
          </a:xfrm>
        </p:spPr>
        <p:txBody>
          <a:bodyPr/>
          <a:lstStyle/>
          <a:p>
            <a:pPr algn="l"/>
            <a:r>
              <a:rPr lang="en-IN" b="1" dirty="0"/>
              <a:t>Cust0m error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D5C69-E22C-CEC7-E017-D747C34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2191109" y="1512497"/>
            <a:ext cx="9311917" cy="4382220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A custom error is an error that you create yourself to give more specific messages that make sense for your app. It helps you explain exactly what went wrong in a way that's easy to understand and fix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Program</a:t>
            </a:r>
          </a:p>
          <a:p>
            <a:pPr algn="l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Throw (“new custom error occurred”); </a:t>
            </a:r>
          </a:p>
          <a:p>
            <a:pPr algn="l"/>
            <a:r>
              <a:rPr lang="en-US" sz="2800" dirty="0">
                <a:solidFill>
                  <a:schemeClr val="accent4"/>
                </a:solidFill>
              </a:rPr>
              <a:t>Output:</a:t>
            </a:r>
          </a:p>
          <a:p>
            <a:pPr algn="l"/>
            <a:r>
              <a:rPr lang="en-US" sz="2800" dirty="0">
                <a:solidFill>
                  <a:schemeClr val="accent4"/>
                </a:solidFill>
              </a:rPr>
              <a:t>error: new custom error has arrived</a:t>
            </a:r>
          </a:p>
          <a:p>
            <a:pPr algn="l"/>
            <a:endParaRPr lang="en-US" sz="2800" dirty="0">
              <a:solidFill>
                <a:schemeClr val="accent4"/>
              </a:solidFill>
            </a:endParaRPr>
          </a:p>
          <a:p>
            <a:pPr algn="l"/>
            <a:endParaRPr lang="en-IN" sz="2800" dirty="0">
              <a:solidFill>
                <a:schemeClr val="accent4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DBA2846-D810-909D-901F-2C911778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1314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0" b="0" i="0" u="none" strike="noStrike" cap="none" normalizeH="0" baseline="0">
                <a:ln>
                  <a:noFill/>
                </a:ln>
                <a:solidFill>
                  <a:srgbClr val="F8F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F30881E-10A1-A160-960B-F868A54A4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1314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0" b="0" i="0" u="none" strike="noStrike" cap="none" normalizeH="0" baseline="0">
                <a:ln>
                  <a:noFill/>
                </a:ln>
                <a:solidFill>
                  <a:srgbClr val="F8F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863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A292B-3358-E7AF-ACEA-C6D7E3ED6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72528"/>
            <a:ext cx="10018711" cy="1447800"/>
          </a:xfrm>
        </p:spPr>
        <p:txBody>
          <a:bodyPr/>
          <a:lstStyle/>
          <a:p>
            <a:r>
              <a:rPr lang="en-IN" dirty="0"/>
              <a:t>Exception Handling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75036-9612-7D62-DCA3-73AF33BA0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1150189"/>
            <a:ext cx="10018713" cy="4641011"/>
          </a:xfrm>
        </p:spPr>
        <p:txBody>
          <a:bodyPr>
            <a:normAutofit/>
          </a:bodyPr>
          <a:lstStyle/>
          <a:p>
            <a:r>
              <a:rPr lang="en-US" sz="2800" dirty="0"/>
              <a:t>Exception handling in </a:t>
            </a:r>
            <a:r>
              <a:rPr lang="en-US" sz="2800" u="sng" dirty="0">
                <a:hlinkClick r:id="rId2"/>
              </a:rPr>
              <a:t>JavaScript</a:t>
            </a:r>
            <a:r>
              <a:rPr lang="en-US" sz="2800" dirty="0"/>
              <a:t> refers to the process of dealing with errors (exceptions) that occur during the execution of a program. </a:t>
            </a:r>
          </a:p>
          <a:p>
            <a:r>
              <a:rPr lang="en-US" sz="2800" dirty="0"/>
              <a:t>JavaScript provides some mechanisms to catch, handle, and recover from error instead of letting the error stop the program. </a:t>
            </a:r>
          </a:p>
          <a:p>
            <a:r>
              <a:rPr lang="en-US" sz="2800" dirty="0"/>
              <a:t>The most common approach is using try...catch blocks.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41721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84F64-EE6B-50DE-F577-BBE943B8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766E8-E4B1-8728-4910-879D494F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474251"/>
            <a:ext cx="9979026" cy="1038247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Handling errors using try…catch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45F75-894A-067D-2944-C7C854F05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2191108" y="1512496"/>
            <a:ext cx="9311917" cy="5193103"/>
          </a:xfrm>
        </p:spPr>
        <p:txBody>
          <a:bodyPr>
            <a:normAutofit/>
          </a:bodyPr>
          <a:lstStyle/>
          <a:p>
            <a:pPr algn="l" fontAlgn="base"/>
            <a:r>
              <a:rPr lang="en-US" sz="1800" dirty="0"/>
              <a:t>The try...catch statement</a:t>
            </a:r>
          </a:p>
          <a:p>
            <a:pPr algn="l" fontAlgn="base"/>
            <a:r>
              <a:rPr lang="en-US" sz="1800" b="1" dirty="0"/>
              <a:t>Try Block:</a:t>
            </a:r>
            <a:r>
              <a:rPr lang="en-US" sz="1800" dirty="0"/>
              <a:t> You place code that may potentially throw an error here.</a:t>
            </a:r>
          </a:p>
          <a:p>
            <a:pPr algn="l" fontAlgn="base"/>
            <a:r>
              <a:rPr lang="en-US" sz="1800" b="1" dirty="0"/>
              <a:t>Catch Block: </a:t>
            </a:r>
            <a:r>
              <a:rPr lang="en-US" sz="1800" dirty="0"/>
              <a:t>This block executes if an error occurs in the try block.</a:t>
            </a:r>
          </a:p>
          <a:p>
            <a:pPr algn="l" fontAlgn="base"/>
            <a:r>
              <a:rPr lang="en-US" sz="1800" b="1" dirty="0"/>
              <a:t>finally Block:</a:t>
            </a:r>
            <a:r>
              <a:rPr lang="en-US" sz="1800" dirty="0"/>
              <a:t> The Code inside this block will always run, whether an error occurred or not.</a:t>
            </a:r>
          </a:p>
          <a:p>
            <a:pPr algn="l"/>
            <a:r>
              <a:rPr lang="en-IN" sz="1200" dirty="0">
                <a:solidFill>
                  <a:schemeClr val="accent4"/>
                </a:solidFill>
              </a:rPr>
              <a:t>syntax:</a:t>
            </a:r>
          </a:p>
          <a:p>
            <a:pPr algn="l"/>
            <a:r>
              <a:rPr lang="en-IN" sz="1400" dirty="0">
                <a:solidFill>
                  <a:schemeClr val="accent2">
                    <a:lumMod val="75000"/>
                  </a:schemeClr>
                </a:solidFill>
              </a:rPr>
              <a:t>try{</a:t>
            </a:r>
          </a:p>
          <a:p>
            <a:pPr algn="l"/>
            <a:r>
              <a:rPr lang="en-IN" sz="1400" dirty="0">
                <a:solidFill>
                  <a:schemeClr val="accent2">
                    <a:lumMod val="75000"/>
                  </a:schemeClr>
                </a:solidFill>
              </a:rPr>
              <a:t>//code that may throw an error</a:t>
            </a:r>
          </a:p>
          <a:p>
            <a:pPr algn="l"/>
            <a:r>
              <a:rPr lang="en-IN" sz="1400" dirty="0">
                <a:solidFill>
                  <a:schemeClr val="accent2">
                    <a:lumMod val="75000"/>
                  </a:schemeClr>
                </a:solidFill>
              </a:rPr>
              <a:t>}</a:t>
            </a:r>
          </a:p>
          <a:p>
            <a:pPr algn="l"/>
            <a:r>
              <a:rPr lang="en-IN" sz="1400" dirty="0">
                <a:solidFill>
                  <a:schemeClr val="accent2">
                    <a:lumMod val="75000"/>
                  </a:schemeClr>
                </a:solidFill>
              </a:rPr>
              <a:t>Catch(error){</a:t>
            </a:r>
          </a:p>
          <a:p>
            <a:pPr algn="l"/>
            <a:r>
              <a:rPr lang="en-IN" sz="1400" dirty="0">
                <a:solidFill>
                  <a:schemeClr val="accent2">
                    <a:lumMod val="75000"/>
                  </a:schemeClr>
                </a:solidFill>
              </a:rPr>
              <a:t>//code to handle the error</a:t>
            </a:r>
          </a:p>
          <a:p>
            <a:pPr algn="l"/>
            <a:r>
              <a:rPr lang="en-IN" sz="1400" dirty="0">
                <a:solidFill>
                  <a:schemeClr val="accent2">
                    <a:lumMod val="75000"/>
                  </a:schemeClr>
                </a:solidFill>
              </a:rPr>
              <a:t>}</a:t>
            </a:r>
          </a:p>
          <a:p>
            <a:pPr algn="l"/>
            <a:r>
              <a:rPr lang="en-IN" sz="1400" dirty="0">
                <a:solidFill>
                  <a:schemeClr val="accent2">
                    <a:lumMod val="75000"/>
                  </a:schemeClr>
                </a:solidFill>
              </a:rPr>
              <a:t>Finally{</a:t>
            </a:r>
          </a:p>
          <a:p>
            <a:pPr algn="l"/>
            <a:r>
              <a:rPr lang="en-IN" sz="1400" dirty="0">
                <a:solidFill>
                  <a:schemeClr val="accent2">
                    <a:lumMod val="75000"/>
                  </a:schemeClr>
                </a:solidFill>
              </a:rPr>
              <a:t>//code that runs regardless of success of error</a:t>
            </a:r>
          </a:p>
          <a:p>
            <a:pPr algn="l"/>
            <a:r>
              <a:rPr lang="en-IN" sz="1400" dirty="0">
                <a:solidFill>
                  <a:schemeClr val="accent2">
                    <a:lumMod val="75000"/>
                  </a:schemeClr>
                </a:solidFill>
              </a:rPr>
              <a:t>}</a:t>
            </a:r>
          </a:p>
          <a:p>
            <a:pPr algn="l"/>
            <a:endParaRPr lang="en-IN" sz="1200" dirty="0">
              <a:solidFill>
                <a:schemeClr val="accent4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1E4F1CD-B276-2CB7-2DE5-520E30F19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1314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0" b="0" i="0" u="none" strike="noStrike" cap="none" normalizeH="0" baseline="0">
                <a:ln>
                  <a:noFill/>
                </a:ln>
                <a:solidFill>
                  <a:srgbClr val="F8F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6C9E363-63DE-11F2-F10A-EF27817CA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1314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0" b="0" i="0" u="none" strike="noStrike" cap="none" normalizeH="0" baseline="0">
                <a:ln>
                  <a:noFill/>
                </a:ln>
                <a:solidFill>
                  <a:srgbClr val="F8F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627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83680-E985-D905-380A-74514A89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4197B-2CCA-3F6A-3EA9-B05300797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474251"/>
            <a:ext cx="9979026" cy="1038247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/>
              <a:t>Best Practices for Error Handling</a:t>
            </a:r>
            <a:br>
              <a:rPr lang="en-US" sz="3600" b="1" dirty="0"/>
            </a:br>
            <a:endParaRPr lang="en-IN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B8C57-D23B-F584-2625-E9BE4F7BF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2191108" y="1512496"/>
            <a:ext cx="9311917" cy="5193103"/>
          </a:xfrm>
        </p:spPr>
        <p:txBody>
          <a:bodyPr>
            <a:normAutofit/>
          </a:bodyPr>
          <a:lstStyle/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b="1" dirty="0"/>
              <a:t>Catch Specific Errors: </a:t>
            </a:r>
            <a:r>
              <a:rPr lang="en-US" dirty="0"/>
              <a:t>Handle specific error types if possible.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b="1" dirty="0"/>
              <a:t>Use finally for Cleanup: </a:t>
            </a:r>
            <a:r>
              <a:rPr lang="en-US" dirty="0"/>
              <a:t>Ensure resources are released or closed.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b="1" dirty="0"/>
              <a:t>Avoid Silent Failures: </a:t>
            </a:r>
            <a:r>
              <a:rPr lang="en-US" dirty="0"/>
              <a:t>Always log or handle errors appropriately.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b="1" dirty="0"/>
              <a:t>Use Custom Errors: </a:t>
            </a:r>
            <a:r>
              <a:rPr lang="en-US" dirty="0"/>
              <a:t>Provide meaningful error messages.</a:t>
            </a:r>
          </a:p>
          <a:p>
            <a:pPr algn="l"/>
            <a:endParaRPr lang="en-IN" sz="1200" dirty="0">
              <a:solidFill>
                <a:schemeClr val="accent4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9210CD4-B36B-D2C5-05A9-2F389F021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1314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0" b="0" i="0" u="none" strike="noStrike" cap="none" normalizeH="0" baseline="0">
                <a:ln>
                  <a:noFill/>
                </a:ln>
                <a:solidFill>
                  <a:srgbClr val="F8F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48D0167-8B54-AC16-60F1-8E564ADBA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1314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0" b="0" i="0" u="none" strike="noStrike" cap="none" normalizeH="0" baseline="0">
                <a:ln>
                  <a:noFill/>
                </a:ln>
                <a:solidFill>
                  <a:srgbClr val="F8F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99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960CD-6396-8974-8755-EEB705C3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C1520-7AB8-6E6B-814D-1B9E76D42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474251"/>
            <a:ext cx="9979026" cy="1038247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/>
              <a:t>Quick view</a:t>
            </a:r>
            <a:br>
              <a:rPr lang="en-US" sz="3600" b="1" dirty="0"/>
            </a:br>
            <a:endParaRPr lang="en-IN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791ED-CD86-299F-F08A-C344CE0AD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2191107" y="1512496"/>
            <a:ext cx="9311917" cy="3260787"/>
          </a:xfrm>
        </p:spPr>
        <p:txBody>
          <a:bodyPr>
            <a:normAutofit/>
          </a:bodyPr>
          <a:lstStyle/>
          <a:p>
            <a:pPr algn="l" fontAlgn="base"/>
            <a:r>
              <a:rPr lang="en-US" b="1" dirty="0"/>
              <a:t>Error</a:t>
            </a:r>
            <a:r>
              <a:rPr lang="en-US" dirty="0"/>
              <a:t>: An object that represents an error or exception that occurred during execution.</a:t>
            </a:r>
          </a:p>
          <a:p>
            <a:pPr algn="l" fontAlgn="base"/>
            <a:r>
              <a:rPr lang="en-US" b="1" dirty="0"/>
              <a:t>Exception</a:t>
            </a:r>
            <a:r>
              <a:rPr lang="en-US" dirty="0"/>
              <a:t>: A specific type of error that is thrown when an unexpected condition occurs.</a:t>
            </a:r>
          </a:p>
          <a:p>
            <a:pPr algn="l" fontAlgn="base"/>
            <a:r>
              <a:rPr lang="en-US" b="1" dirty="0"/>
              <a:t>Error Handling</a:t>
            </a:r>
            <a:r>
              <a:rPr lang="en-US" dirty="0"/>
              <a:t>: The process of catching and handling errors that occur during execution.</a:t>
            </a:r>
          </a:p>
          <a:p>
            <a:pPr algn="l" fontAlgn="base"/>
            <a:r>
              <a:rPr lang="en-US" b="1" dirty="0"/>
              <a:t>Try-Catch Block</a:t>
            </a:r>
            <a:r>
              <a:rPr lang="en-US" dirty="0"/>
              <a:t>: A block of code that attempts to execute a block of code and catches any errors that occur.</a:t>
            </a:r>
          </a:p>
          <a:p>
            <a:pPr algn="l"/>
            <a:endParaRPr lang="en-IN" sz="1200" dirty="0">
              <a:solidFill>
                <a:schemeClr val="accent4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384AA7-4B7B-6231-178C-66F30E7F3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1314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0" b="0" i="0" u="none" strike="noStrike" cap="none" normalizeH="0" baseline="0">
                <a:ln>
                  <a:noFill/>
                </a:ln>
                <a:solidFill>
                  <a:srgbClr val="F8F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C8C213B-7380-5608-1913-35F1071FF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1314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0" b="0" i="0" u="none" strike="noStrike" cap="none" normalizeH="0" baseline="0">
                <a:ln>
                  <a:noFill/>
                </a:ln>
                <a:solidFill>
                  <a:srgbClr val="F8F8F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7751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482</TotalTime>
  <Words>533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Corbel</vt:lpstr>
      <vt:lpstr>Courier New</vt:lpstr>
      <vt:lpstr>Parallax</vt:lpstr>
      <vt:lpstr>Error handling</vt:lpstr>
      <vt:lpstr>What is an error?</vt:lpstr>
      <vt:lpstr>Syntax error</vt:lpstr>
      <vt:lpstr>Range errors</vt:lpstr>
      <vt:lpstr>Type error</vt:lpstr>
      <vt:lpstr>Reference  error</vt:lpstr>
      <vt:lpstr>Cust0m error</vt:lpstr>
      <vt:lpstr>Exception Handling</vt:lpstr>
      <vt:lpstr>Handling errors using try…catch</vt:lpstr>
      <vt:lpstr>Best Practices for Error Handling </vt:lpstr>
      <vt:lpstr>Quick view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Aravind Srinivas</dc:creator>
  <cp:lastModifiedBy>Aravind Srinivas</cp:lastModifiedBy>
  <cp:revision>2</cp:revision>
  <dcterms:created xsi:type="dcterms:W3CDTF">2025-06-03T08:44:29Z</dcterms:created>
  <dcterms:modified xsi:type="dcterms:W3CDTF">2025-06-03T16:47:07Z</dcterms:modified>
</cp:coreProperties>
</file>